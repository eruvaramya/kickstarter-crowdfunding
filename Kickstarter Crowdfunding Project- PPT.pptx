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4"/>
  </p:sldMasterIdLst>
  <p:notesMasterIdLst>
    <p:notesMasterId r:id="rId19"/>
  </p:notesMasterIdLst>
  <p:handoutMasterIdLst>
    <p:handoutMasterId r:id="rId20"/>
  </p:handoutMasterIdLst>
  <p:sldIdLst>
    <p:sldId id="273" r:id="rId5"/>
    <p:sldId id="275" r:id="rId6"/>
    <p:sldId id="284" r:id="rId7"/>
    <p:sldId id="277" r:id="rId8"/>
    <p:sldId id="280" r:id="rId9"/>
    <p:sldId id="281" r:id="rId10"/>
    <p:sldId id="282" r:id="rId11"/>
    <p:sldId id="279" r:id="rId12"/>
    <p:sldId id="283" r:id="rId13"/>
    <p:sldId id="276" r:id="rId14"/>
    <p:sldId id="278" r:id="rId15"/>
    <p:sldId id="274" r:id="rId16"/>
    <p:sldId id="285" r:id="rId17"/>
    <p:sldId id="28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3324"/>
    <a:srgbClr val="815550"/>
    <a:srgbClr val="D8BEB2"/>
    <a:srgbClr val="753F2D"/>
    <a:srgbClr val="8A4C34"/>
    <a:srgbClr val="A3573E"/>
    <a:srgbClr val="E7E6E6"/>
    <a:srgbClr val="C28D6D"/>
    <a:srgbClr val="D2986F"/>
    <a:srgbClr val="333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327"/>
  </p:normalViewPr>
  <p:slideViewPr>
    <p:cSldViewPr snapToGrid="0">
      <p:cViewPr varScale="1">
        <p:scale>
          <a:sx n="82" d="100"/>
          <a:sy n="82" d="100"/>
        </p:scale>
        <p:origin x="894" y="90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384739-269E-E1F1-8ABC-69E6FF0B24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E762C-8F56-4D66-7FDD-AEC906335A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68699-2479-4C0A-8A94-0691180AD90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1BBEC-2A52-4B1C-EAC4-F2506E89EF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CE0FC2-0147-D8D1-D79B-AFEA881A33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931F5-0986-448A-BDF9-01DB80712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568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t>1/21/2026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9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12379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109C65-649B-BC5F-28C2-1D11EA6FC184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EB74F92-646E-BA3B-8575-2142D94690DA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D09A689-8EBA-B9C2-17D5-6B402BD42F0C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51282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5FB4AFB-E59A-305D-CC11-761129C3326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6011281-EF7B-721E-21EF-84DD6B453D5A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A0C3D14-FDFD-290D-0000-7B4E7782CF97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31148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5BDBDAA-4B52-0C7B-233C-780F524EC1F0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12B76F1-9812-A30C-5B77-07A489D1C21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71A9A12-BD9F-1D90-C954-AF7108C28DC8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113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74589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094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29469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43449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0841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65218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68915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4972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lumn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1646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lumn 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16193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 on the lef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solidFill>
                <a:schemeClr val="bg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/>
          <a:lstStyle>
            <a:lvl1pPr>
              <a:lnSpc>
                <a:spcPct val="10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56078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anchor="t"/>
          <a:lstStyle>
            <a:lvl1pPr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58273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on th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85776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dark ba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1479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20588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on the righ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543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01486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763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88741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654" r:id="rId2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red.it/economia/start-up/2014/03/05/kickstarter-finanziatori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14075-fundraising-png-fil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iabac.org/blog/data-quality-assurance-the-key-to-reliable-and-trustworthy-data-engineerin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nio.com/fr/objets/outils/main-metre-outil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4B07C7A-8E1D-7BF7-31C8-5C68C6D2F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7328464" cy="1857538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Bahnschrift Condensed" panose="020B0502040204020203" pitchFamily="34" charset="0"/>
              </a:rPr>
              <a:t>Kickstarter CROWDFUNDING PROJECT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F3A7BFE-9123-98C4-791C-9A3FE773C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48299" y="4622240"/>
            <a:ext cx="5486400" cy="1085221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Group 5:</a:t>
            </a:r>
            <a:r>
              <a:rPr lang="en-US" dirty="0"/>
              <a:t> 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chemeClr val="bg2"/>
                </a:solidFill>
              </a:rPr>
              <a:t>Eruva Ramya,</a:t>
            </a:r>
          </a:p>
          <a:p>
            <a:r>
              <a:rPr lang="en-US" dirty="0">
                <a:solidFill>
                  <a:schemeClr val="bg2"/>
                </a:solidFill>
              </a:rPr>
              <a:t>Gudla Gangothri</a:t>
            </a:r>
            <a:endParaRPr lang="en-PK" dirty="0">
              <a:solidFill>
                <a:schemeClr val="bg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A9D1FB-EC47-4201-0B42-73268827CB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76254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103A-7E0F-A503-491C-874CA2A16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5482280" cy="70408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Bradley Hand ITC" panose="03070402050302030203" pitchFamily="66" charset="0"/>
              </a:rPr>
              <a:t>INTRODUCTION: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7A49E4-DCE3-62DE-B6D1-539EBFFFE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833634"/>
            <a:ext cx="9685204" cy="3808325"/>
          </a:xfrm>
        </p:spPr>
        <p:txBody>
          <a:bodyPr/>
          <a:lstStyle/>
          <a:p>
            <a:r>
              <a:rPr lang="en-US" dirty="0"/>
              <a:t>Crowdfunding is the practice of funding a project or venture by raising small amounts of money from a large number of people, typically via the Internet.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Thousands of creative projects are funding on Kickstarter at any given moment. Each project is independently created and crafted by the person behind 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The filmmakers, musicians, artists, and designers you see on Kickstarter have complete control and responsibility over their projects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85CC1-CC9E-26A5-C05A-E64ABEDD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1DDE3A-123D-F65F-7450-C2FEA43362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793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D0AD8C-53B8-1909-3AF2-939C3C596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BD558-20DA-1E4E-B3D2-85B30B1F4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3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55B3239-FB42-DBEC-68BE-0907AA86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597688"/>
            <a:ext cx="10515600" cy="803868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Challenges &amp; Potential solutions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E7289A2-9F71-9573-D90D-7CC988F1D8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51372"/>
          </a:xfrm>
        </p:spPr>
        <p:txBody>
          <a:bodyPr/>
          <a:lstStyle/>
          <a:p>
            <a:r>
              <a:rPr lang="en-US" dirty="0">
                <a:solidFill>
                  <a:srgbClr val="815550"/>
                </a:solidFill>
              </a:rPr>
              <a:t>Challenges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006E369-828D-5ECB-9D40-1C4E7D7E26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815550"/>
                </a:solidFill>
              </a:rPr>
              <a:t>Potential Solutions</a:t>
            </a: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25F89C6A-5E64-7941-2A6F-46517984F668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365760" y="3781278"/>
            <a:ext cx="460817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Poor project visibility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Unrealistic funding goals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Limited marketing reach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056EBE-B954-E4BE-4C79-4C8C1C7412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3462338"/>
            <a:ext cx="4959096" cy="150154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Build trust with clear and honest information</a:t>
            </a:r>
          </a:p>
          <a:p>
            <a:pPr marL="0" indent="0">
              <a:buNone/>
            </a:pP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</a:rPr>
              <a:t>Set realistic and achievable funding goals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chemeClr val="bg2">
                  <a:lumMod val="90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</a:rPr>
              <a:t>Provide regular updates to backers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889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19D6C7A-A7F7-E063-9A09-611D1FB1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479" y="301752"/>
            <a:ext cx="2693461" cy="274320"/>
          </a:xfrm>
        </p:spPr>
        <p:txBody>
          <a:bodyPr/>
          <a:lstStyle/>
          <a:p>
            <a:r>
              <a:rPr lang="en-US" dirty="0"/>
              <a:t>KICKSTARTER CROWDFUNDING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1D71DF-7225-6C66-9D2B-FAACEFF2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8BDE3D-CB39-03D2-545F-52830247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latin typeface="Tempus Sans ITC" panose="04020404030D07020202" pitchFamily="82" charset="0"/>
              </a:rPr>
              <a:t>Steps Taken to </a:t>
            </a:r>
            <a:r>
              <a:rPr lang="en-US" sz="4000" dirty="0" err="1">
                <a:latin typeface="Tempus Sans ITC" panose="04020404030D07020202" pitchFamily="82" charset="0"/>
              </a:rPr>
              <a:t>sOLve</a:t>
            </a:r>
            <a:r>
              <a:rPr lang="en-US" sz="4000" dirty="0">
                <a:latin typeface="Tempus Sans ITC" panose="04020404030D07020202" pitchFamily="82" charset="0"/>
              </a:rPr>
              <a:t> the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F894F-23A1-85D4-2713-57D743F808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1.Data Understanding 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F4D35-9BD6-00FC-A23D-DCE50F2F20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2. Data Cleaning : </a:t>
            </a:r>
            <a:br>
              <a:rPr lang="en-US" sz="20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83C73-2637-AC0E-5A6B-47B6C6CB9E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Reviewed Crowdfunding dataset fields (Creator, Location, Calendar Table, category, currency etc.)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6865D3-E9E5-FDDD-B091-FE6F9039C6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Removed duplicates, handled null values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E7DACA-3B6A-68FB-8021-12A46983A2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733530"/>
            <a:ext cx="12192000" cy="537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194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KICKSTARTER CROWDFUNDING</a:t>
            </a:r>
          </a:p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4AD0668A-E954-9F84-A3FF-C7DE5A31B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120580"/>
            <a:ext cx="5608320" cy="5923350"/>
          </a:xfrm>
        </p:spPr>
        <p:txBody>
          <a:bodyPr>
            <a:normAutofit fontScale="90000"/>
          </a:bodyPr>
          <a:lstStyle/>
          <a:p>
            <a:pPr algn="l"/>
            <a:r>
              <a:rPr lang="en-US" sz="2200" b="1"/>
              <a:t>5. Projects Overview KPI :</a:t>
            </a:r>
            <a:br>
              <a:rPr lang="en-US" sz="2200" b="1"/>
            </a:br>
            <a:br>
              <a:rPr lang="en-US" sz="2200" b="1"/>
            </a:br>
            <a:r>
              <a:rPr lang="en-US" sz="2200"/>
              <a:t> Total Number of Projects based on outcome </a:t>
            </a:r>
            <a:br>
              <a:rPr lang="en-US" sz="2200"/>
            </a:br>
            <a:r>
              <a:rPr lang="en-US" sz="2200"/>
              <a:t> Total </a:t>
            </a:r>
            <a:r>
              <a:rPr lang="en-US" sz="2000"/>
              <a:t>Number of Projects based on Locations</a:t>
            </a:r>
            <a:br>
              <a:rPr lang="en-US" sz="2000"/>
            </a:br>
            <a:r>
              <a:rPr lang="en-US" sz="2000"/>
              <a:t> Total Number of Projects based on  Category</a:t>
            </a:r>
            <a:br>
              <a:rPr lang="en-US" sz="2000"/>
            </a:br>
            <a:r>
              <a:rPr lang="en-US" sz="2000"/>
              <a:t> Total Number of Projects created by Year , Quarter , Month</a:t>
            </a:r>
            <a:br>
              <a:rPr lang="en-US" sz="2000"/>
            </a:br>
            <a:br>
              <a:rPr lang="en-US" sz="6700"/>
            </a:br>
            <a:r>
              <a:rPr lang="en-US" sz="2000" b="1"/>
              <a:t>6.  Successful Projects</a:t>
            </a:r>
            <a:br>
              <a:rPr lang="en-US" sz="2000"/>
            </a:br>
            <a:r>
              <a:rPr lang="en-US" sz="2000"/>
              <a:t>  Amount Raised </a:t>
            </a:r>
            <a:br>
              <a:rPr lang="en-US" sz="2000"/>
            </a:br>
            <a:r>
              <a:rPr lang="en-US" sz="2000"/>
              <a:t>  Number of Backers</a:t>
            </a:r>
            <a:br>
              <a:rPr lang="en-US" sz="2000"/>
            </a:br>
            <a:r>
              <a:rPr lang="en-US" sz="2000"/>
              <a:t>  Avg Number of Days for successful projects</a:t>
            </a:r>
            <a:br>
              <a:rPr lang="en-US" sz="200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B5A03-99D2-C953-F227-3E16202589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422031"/>
            <a:ext cx="4828032" cy="940679"/>
          </a:xfrm>
        </p:spPr>
        <p:txBody>
          <a:bodyPr>
            <a:normAutofit/>
          </a:bodyPr>
          <a:lstStyle/>
          <a:p>
            <a:r>
              <a:rPr lang="en-US" dirty="0"/>
              <a:t>3. Convert &amp; Build: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13870-8786-7090-C9CF-E1E30DC7B9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2844590"/>
            <a:ext cx="4828032" cy="1128126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4. Data modelling: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6C050-0EBC-234C-AB93-E7868D85A2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051306"/>
            <a:ext cx="4754880" cy="2103876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latin typeface="Arial Narrow" panose="020B0606020202030204" pitchFamily="34" charset="0"/>
              </a:rPr>
              <a:t>Converting the </a:t>
            </a:r>
            <a:r>
              <a:rPr lang="en-IN" sz="1800" kern="100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Date fields to Natural Time </a:t>
            </a:r>
          </a:p>
          <a:p>
            <a:r>
              <a:rPr lang="en-IN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Build a Calendar Table using the Date Column Created Date ( Which has Dates from Minimum Dates and Maximum Dates) &amp; Adding columns</a:t>
            </a:r>
            <a:endParaRPr lang="en-US" sz="1800" dirty="0">
              <a:latin typeface="Arial Narrow" panose="020B060602020203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C51C3F1-54D5-8F63-473C-F7876B8CE1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3784457"/>
            <a:ext cx="4754880" cy="2383771"/>
          </a:xfrm>
        </p:spPr>
        <p:txBody>
          <a:bodyPr>
            <a:normAutofit/>
          </a:bodyPr>
          <a:lstStyle/>
          <a:p>
            <a:r>
              <a:rPr lang="en-US" dirty="0"/>
              <a:t>Building the data model by using the attached files</a:t>
            </a:r>
          </a:p>
          <a:p>
            <a:pPr marL="0" indent="0">
              <a:buNone/>
            </a:pPr>
            <a:r>
              <a:rPr lang="en-US" sz="2000" b="1" dirty="0"/>
              <a:t>5. Convert the Amounts:</a:t>
            </a:r>
          </a:p>
          <a:p>
            <a:r>
              <a:rPr lang="en-US" dirty="0"/>
              <a:t>Convert the Goal amount into USD using the Static USD Rate.</a:t>
            </a:r>
          </a:p>
          <a:p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41060F7-93F8-A7FE-D14C-4D2C827A7D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flipV="1">
            <a:off x="580996" y="6624228"/>
            <a:ext cx="4828032" cy="48958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noFill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F9143BD-31F7-D693-E054-3D16517C3D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flipV="1">
            <a:off x="461722" y="6624228"/>
            <a:ext cx="4754880" cy="48958"/>
          </a:xfrm>
        </p:spPr>
        <p:txBody>
          <a:bodyPr>
            <a:normAutofit fontScale="25000" lnSpcReduction="20000"/>
          </a:bodyPr>
          <a:lstStyle/>
          <a:p>
            <a:endParaRPr lang="en-US" dirty="0">
              <a:noFill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C95BE3-D7D6-1615-F337-BDBF07E983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396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1133-2B2D-CB5C-25A3-A6BBC6AC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523" y="301752"/>
            <a:ext cx="4494998" cy="3076716"/>
          </a:xfrm>
        </p:spPr>
        <p:txBody>
          <a:bodyPr>
            <a:normAutofit fontScale="90000"/>
          </a:bodyPr>
          <a:lstStyle/>
          <a:p>
            <a:pPr algn="l"/>
            <a:r>
              <a:rPr lang="en-US" sz="2000" dirty="0">
                <a:solidFill>
                  <a:schemeClr val="accent3">
                    <a:lumMod val="50000"/>
                  </a:schemeClr>
                </a:solidFill>
              </a:rPr>
              <a:t>6. Dashboard Optimization : </a:t>
            </a:r>
            <a:br>
              <a:rPr lang="en-US" sz="2000" dirty="0">
                <a:solidFill>
                  <a:schemeClr val="accent3">
                    <a:lumMod val="50000"/>
                  </a:schemeClr>
                </a:solidFill>
              </a:rPr>
            </a:br>
            <a:br>
              <a:rPr lang="en-US" sz="2000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000" dirty="0"/>
              <a:t>Applied filters, tooltips, and drill-through </a:t>
            </a:r>
            <a:br>
              <a:rPr lang="en-US" sz="2000" dirty="0"/>
            </a:br>
            <a:r>
              <a:rPr lang="en-US" sz="2000" dirty="0"/>
              <a:t>Ensured clean layout and consistent color theme</a:t>
            </a:r>
            <a:br>
              <a:rPr lang="en-US" sz="2000" dirty="0"/>
            </a:br>
            <a:br>
              <a:rPr lang="en-US" sz="2000" dirty="0"/>
            </a:br>
            <a:endParaRPr lang="en-IN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480BD-3EF5-7A7E-9E81-E73191A1D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Key Dates</a:t>
            </a:r>
          </a:p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C361D4-2114-E276-681B-0EDACAD8E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KICKSTARTER CROWDFUNDING</a:t>
            </a:r>
          </a:p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FC4DAD-8F22-40DC-8133-22BF5221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737C8-4322-77C9-4E34-94E5EE136DB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3932238"/>
            <a:ext cx="4756150" cy="1682750"/>
          </a:xfrm>
        </p:spPr>
        <p:txBody>
          <a:bodyPr/>
          <a:lstStyle/>
          <a:p>
            <a:r>
              <a:rPr lang="en-US" sz="2800" dirty="0">
                <a:solidFill>
                  <a:schemeClr val="accent3">
                    <a:lumMod val="50000"/>
                  </a:schemeClr>
                </a:solidFill>
              </a:rPr>
              <a:t>7. Validation : </a:t>
            </a:r>
          </a:p>
          <a:p>
            <a:br>
              <a:rPr lang="en-US" sz="2800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dirty="0"/>
              <a:t>Cross-checked values with source data and tested slicer interactions.</a:t>
            </a:r>
          </a:p>
        </p:txBody>
      </p:sp>
    </p:spTree>
    <p:extLst>
      <p:ext uri="{BB962C8B-B14F-4D97-AF65-F5344CB8AC3E}">
        <p14:creationId xmlns:p14="http://schemas.microsoft.com/office/powerpoint/2010/main" val="901526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9C9137C-4C2A-3985-8399-B6159A8C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KICKSTARTER CROWDFUNDING</a:t>
            </a:r>
          </a:p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9804E48-D44D-C8A3-0944-D8913675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t>7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20B05AE-FF1F-5AED-3BF5-5FC7F276B1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3975"/>
            <a:ext cx="7286625" cy="692150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Excel Dashboard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0CCFF9D-952C-375A-4509-5747B2A963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3" t="13380" r="27318" b="18494"/>
          <a:stretch>
            <a:fillRect/>
          </a:stretch>
        </p:blipFill>
        <p:spPr>
          <a:xfrm>
            <a:off x="130628" y="874206"/>
            <a:ext cx="11776669" cy="534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054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C1259C-0A50-37A0-081E-E36D391D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KICKSTARTER CROWDFUNDING</a:t>
            </a:r>
          </a:p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08378E4-1369-B8BE-D097-D0A68C99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CEF31D-8F95-4F2D-44A3-3067856E68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23" t="9032" r="16781" b="15769"/>
          <a:stretch>
            <a:fillRect/>
          </a:stretch>
        </p:blipFill>
        <p:spPr>
          <a:xfrm>
            <a:off x="231112" y="482322"/>
            <a:ext cx="11595797" cy="573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355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11D8548-86D4-B3ED-53D9-093CA9C07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872" y="110582"/>
            <a:ext cx="7729728" cy="643044"/>
          </a:xfr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/>
              <a:t>Tableau dashboard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EA3CB1-AF25-EA4C-A297-4DDC6E0E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KICKSTARTER CROWDFUNDING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3E68DE-3756-7E72-3F5A-34338BB3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t>9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90ABB52-254D-63FB-04D3-637CCE88D6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683" t="14549" r="34692" b="7220"/>
          <a:stretch>
            <a:fillRect/>
          </a:stretch>
        </p:blipFill>
        <p:spPr>
          <a:xfrm>
            <a:off x="946942" y="804918"/>
            <a:ext cx="10621658" cy="536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614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EED6286-6851-6DDB-6D9B-9B02A607B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KICKSTARTER CROWDFUNDING</a:t>
            </a:r>
          </a:p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783BE29-9226-E728-BAD0-B02DEADF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EC1C03-2648-8553-6440-936D74BEC0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78" t="14858" r="34346" b="7080"/>
          <a:stretch>
            <a:fillRect/>
          </a:stretch>
        </p:blipFill>
        <p:spPr>
          <a:xfrm>
            <a:off x="1292812" y="441099"/>
            <a:ext cx="9831870" cy="535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647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87AD88-3E6A-4590-7509-9106379F6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77" y="51956"/>
            <a:ext cx="7854061" cy="592814"/>
          </a:xfrm>
          <a:solidFill>
            <a:schemeClr val="accent5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>
                <a:solidFill>
                  <a:schemeClr val="accent4">
                    <a:lumMod val="75000"/>
                  </a:schemeClr>
                </a:solidFill>
              </a:rPr>
              <a:t>Power BI Dashboard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83AAE15-CE16-991A-C05F-0BD97418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KICKSTARTER CROWDFUNDING</a:t>
            </a:r>
          </a:p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B66A1BD-2500-AB18-9DCA-0585F33C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0057AB-20BC-41CA-30EF-41A33BE32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77" y="644770"/>
            <a:ext cx="11480012" cy="593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48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A21E7D-A2E5-B661-9BC5-1E933D107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28" t="18621" r="28792" b="7328"/>
          <a:stretch>
            <a:fillRect/>
          </a:stretch>
        </p:blipFill>
        <p:spPr>
          <a:xfrm>
            <a:off x="783771" y="150725"/>
            <a:ext cx="11012994" cy="606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36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1C96686-BF55-FCC1-61BF-8C9F2B71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635714"/>
            <a:ext cx="4486656" cy="1141497"/>
          </a:xfrm>
          <a:effectLst>
            <a:innerShdw blurRad="63500" dist="50800" dir="16200000">
              <a:prstClr val="black">
                <a:alpha val="50000"/>
              </a:prstClr>
            </a:innerShdw>
            <a:reflection blurRad="6350" stA="50000" endA="300" endPos="90000" dist="50800" dir="5400000" sy="-100000" algn="bl" rotWithShape="0"/>
          </a:effectLst>
          <a:scene3d>
            <a:camera prst="isometricOffAxis1Right"/>
            <a:lightRig rig="threePt" dir="t"/>
          </a:scene3d>
        </p:spPr>
        <p:txBody>
          <a:bodyPr/>
          <a:lstStyle/>
          <a:p>
            <a:r>
              <a:rPr lang="en-US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formal Roman" panose="030604020304060B0204" pitchFamily="66" charset="0"/>
              </a:rPr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EC67C0-08FA-0E44-D9FE-3B193FE4B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274320"/>
            <a:ext cx="5921829" cy="5943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Crowdfunding on Kickstarter enables creators to raise funds by connecting directly with supporters online.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Despite challenges like poor visibility, unrealistic goals, and limited marketing reach, these can be overcome with transparency and consistent updates.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Data cleaning, modeling, and conversion of values into USD helped in building accurate insights.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Dashboards in Excel, Tableau, and Power BI provided KPIs such as project outcomes, funding amounts, and backer engagement.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Filters, tooltips, and drill-through features ensured dashboards were optimized and user-friendly.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Validation steps confirmed accuracy and reliability of the data presented.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Overall, combining data-driven analysis with clear communication improves project success rates.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This approach highlights the importance of trust, planning, and visualization in crowdfunding success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6521CF-15F0-206B-1F35-7622A5877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KICKSTARTER CROWDFUNDING</a:t>
            </a:r>
          </a:p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CD4BD2-D226-1890-975A-D7D82FB62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13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59899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164FD4D-4037-FEE8-4E68-7BDA4A598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59913" y="2371411"/>
            <a:ext cx="6642362" cy="1436914"/>
          </a:xfrm>
        </p:spPr>
        <p:txBody>
          <a:bodyPr>
            <a:normAutofit/>
          </a:bodyPr>
          <a:lstStyle/>
          <a:p>
            <a:pPr algn="ctr"/>
            <a:r>
              <a:rPr lang="en-US" sz="3600" i="1" dirty="0">
                <a:latin typeface="Baskerville Old Face" panose="02020602080505020303" pitchFamily="18" charset="0"/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2311879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5FA367-1CF2-4EC2-949E-D7EB334E59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CF51A7-9108-45AF-AF64-7A03A8DEEF8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66A1098-79A7-47E8-8A61-8CB2B72760B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245</TotalTime>
  <Words>524</Words>
  <Application>Microsoft Office PowerPoint</Application>
  <PresentationFormat>Widescreen</PresentationFormat>
  <Paragraphs>68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Arial Narrow</vt:lpstr>
      <vt:lpstr>Bahnschrift Condensed</vt:lpstr>
      <vt:lpstr>Baskerville Old Face</vt:lpstr>
      <vt:lpstr>Bradley Hand ITC</vt:lpstr>
      <vt:lpstr>Calibri</vt:lpstr>
      <vt:lpstr>Gill Sans MT</vt:lpstr>
      <vt:lpstr>Informal Roman</vt:lpstr>
      <vt:lpstr>Tempus Sans ITC</vt:lpstr>
      <vt:lpstr>Parcel</vt:lpstr>
      <vt:lpstr>Kickstarter CROWDFUNDING PROJECT</vt:lpstr>
      <vt:lpstr>INTRODUCTION:</vt:lpstr>
      <vt:lpstr>Challenges &amp; Potential solutions</vt:lpstr>
      <vt:lpstr>Steps Taken to sOLve the problem</vt:lpstr>
      <vt:lpstr>5. Projects Overview KPI :   Total Number of Projects based on outcome   Total Number of Projects based on Locations  Total Number of Projects based on  Category  Total Number of Projects created by Year , Quarter , Month  6.  Successful Projects   Amount Raised    Number of Backers   Avg Number of Days for successful projects </vt:lpstr>
      <vt:lpstr>6. Dashboard Optimization :   Applied filters, tooltips, and drill-through  Ensured clean layout and consistent color theme  </vt:lpstr>
      <vt:lpstr>Excel Dashboard </vt:lpstr>
      <vt:lpstr>PowerPoint Presentation</vt:lpstr>
      <vt:lpstr>Tableau dashboard </vt:lpstr>
      <vt:lpstr>PowerPoint Presentation</vt:lpstr>
      <vt:lpstr>Power BI Dashboard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gangothri gudla</dc:creator>
  <cp:lastModifiedBy>Prasad Korrapati</cp:lastModifiedBy>
  <cp:revision>11</cp:revision>
  <dcterms:created xsi:type="dcterms:W3CDTF">2026-01-18T13:34:02Z</dcterms:created>
  <dcterms:modified xsi:type="dcterms:W3CDTF">2026-01-21T14:04:28Z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